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645920"/>
            <a:ext cx="10698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818CF8"/>
                </a:solidFill>
              </a:defRPr>
            </a:pPr>
            <a:r>
              <a:t>INTERNAL STRATEGIC PROPOSAL &amp; INVESTMENT DECK</a:t>
            </a:r>
          </a:p>
          <a:p>
            <a:pPr>
              <a:spcAft>
                <a:spcPts val="1200"/>
              </a:spcAft>
              <a:defRPr sz="3000" b="1">
                <a:solidFill>
                  <a:srgbClr val="F8FAFC"/>
                </a:solidFill>
              </a:defRPr>
            </a:pPr>
            <a:r>
              <a:t>Vocallabs: Scaling White-Label Voice AI Infrastructure</a:t>
            </a:r>
          </a:p>
          <a:p>
            <a:pPr>
              <a:spcAft>
                <a:spcPts val="2400"/>
              </a:spcAft>
              <a:defRPr sz="1500">
                <a:solidFill>
                  <a:srgbClr val="94A3B8"/>
                </a:solidFill>
              </a:defRPr>
            </a:pPr>
            <a:r>
              <a:t>Empowering BPOs, Agencies, and SaaS Platforms to Own &amp; Resell Sovereign Voice AI Agents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4389120"/>
            <a:ext cx="2468880" cy="1645920"/>
          </a:xfrm>
          <a:prstGeom prst="roundRect">
            <a:avLst/>
          </a:prstGeom>
          <a:solidFill>
            <a:srgbClr val="1A2438"/>
          </a:solidFill>
          <a:ln w="19050"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4526280"/>
            <a:ext cx="21945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818CF8"/>
                </a:solidFill>
              </a:defRPr>
            </a:pPr>
            <a:r>
              <a:t>INR 1.20 / min</a:t>
            </a:r>
          </a:p>
          <a:p>
            <a:pPr>
              <a:defRPr sz="1100" b="1">
                <a:solidFill>
                  <a:srgbClr val="F8FAFC"/>
                </a:solidFill>
              </a:defRPr>
            </a:pPr>
            <a:r>
              <a:t>Wholesale Infra Rate</a:t>
            </a:r>
          </a:p>
          <a:p>
            <a:pPr>
              <a:defRPr sz="900">
                <a:solidFill>
                  <a:srgbClr val="94A3B8"/>
                </a:solidFill>
              </a:defRPr>
            </a:pPr>
            <a:r>
              <a:t>Partner retails at INR 3-5/min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74720" y="4389120"/>
            <a:ext cx="2468880" cy="1645920"/>
          </a:xfrm>
          <a:prstGeom prst="roundRect">
            <a:avLst/>
          </a:prstGeom>
          <a:solidFill>
            <a:srgbClr val="1A2438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11880" y="4526280"/>
            <a:ext cx="21945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34D399"/>
                </a:solidFill>
              </a:defRPr>
            </a:pPr>
            <a:r>
              <a:t>62.5%</a:t>
            </a:r>
          </a:p>
          <a:p>
            <a:pPr>
              <a:defRPr sz="1100" b="1">
                <a:solidFill>
                  <a:srgbClr val="F8FAFC"/>
                </a:solidFill>
              </a:defRPr>
            </a:pPr>
            <a:r>
              <a:t>Infra Gross Margin</a:t>
            </a:r>
          </a:p>
          <a:p>
            <a:pPr>
              <a:defRPr sz="900">
                <a:solidFill>
                  <a:srgbClr val="94A3B8"/>
                </a:solidFill>
              </a:defRPr>
            </a:pPr>
            <a:r>
              <a:t>High operational leverage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4389120"/>
            <a:ext cx="2468880" cy="1645920"/>
          </a:xfrm>
          <a:prstGeom prst="roundRect">
            <a:avLst/>
          </a:prstGeom>
          <a:solidFill>
            <a:srgbClr val="1A2438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55080" y="4526280"/>
            <a:ext cx="21945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BBF24"/>
                </a:solidFill>
              </a:defRPr>
            </a:pPr>
            <a:r>
              <a:t>100+</a:t>
            </a:r>
          </a:p>
          <a:p>
            <a:pPr>
              <a:defRPr sz="1100" b="1">
                <a:solidFill>
                  <a:srgbClr val="F8FAFC"/>
                </a:solidFill>
              </a:defRPr>
            </a:pPr>
            <a:r>
              <a:t>Active BPO Partners</a:t>
            </a:r>
          </a:p>
          <a:p>
            <a:pPr>
              <a:defRPr sz="900">
                <a:solidFill>
                  <a:srgbClr val="94A3B8"/>
                </a:solidFill>
              </a:defRPr>
            </a:pPr>
            <a:r>
              <a:t>12-month partner target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61120" y="4389120"/>
            <a:ext cx="2468880" cy="1645920"/>
          </a:xfrm>
          <a:prstGeom prst="roundRect">
            <a:avLst/>
          </a:prstGeom>
          <a:solidFill>
            <a:srgbClr val="1A2438"/>
          </a:solidFill>
          <a:ln w="1905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098280" y="4526280"/>
            <a:ext cx="21945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7171"/>
                </a:solidFill>
              </a:defRPr>
            </a:pPr>
            <a:r>
              <a:t>INR 5.2 Cr</a:t>
            </a:r>
          </a:p>
          <a:p>
            <a:pPr>
              <a:defRPr sz="1100" b="1">
                <a:solidFill>
                  <a:srgbClr val="F8FAFC"/>
                </a:solidFill>
              </a:defRPr>
            </a:pPr>
            <a:r>
              <a:t>Target Net ARR</a:t>
            </a:r>
          </a:p>
          <a:p>
            <a:pPr>
              <a:defRPr sz="900">
                <a:solidFill>
                  <a:srgbClr val="94A3B8"/>
                </a:solidFill>
              </a:defRPr>
            </a:pPr>
            <a:r>
              <a:t>50M voice mins / month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818CF8"/>
                </a:solidFill>
              </a:defRPr>
            </a:pPr>
            <a:r>
              <a:t>INVESTMENT DECK | MARKET OPPORTUNITY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The Market Opportunity: The $150B Voice BPO Shift to Sovereign AI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212080" cy="4937760"/>
          </a:xfrm>
          <a:prstGeom prst="roundRect">
            <a:avLst/>
          </a:prstGeom>
          <a:solidFill>
            <a:srgbClr val="1A2438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554480"/>
            <a:ext cx="4846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FBBF24"/>
                </a:solidFill>
              </a:defRPr>
            </a:pPr>
            <a:r>
              <a:t>The Foil: Generic API Wrappers (Retell / Vapi)</a:t>
            </a:r>
          </a:p>
          <a:p>
            <a:pPr>
              <a:spcAft>
                <a:spcPts val="400"/>
              </a:spcAft>
              <a:defRPr sz="1050">
                <a:solidFill>
                  <a:srgbClr val="F8FAFC"/>
                </a:solidFill>
              </a:defRPr>
            </a:pPr>
            <a:r>
              <a:t>- Disintermediated Partners: Agencies &amp; BPOs cannot build defensible businesses wrapping raw APIs: they get disintermediated.</a:t>
            </a:r>
          </a:p>
          <a:p>
            <a:pPr>
              <a:spcAft>
                <a:spcPts val="400"/>
              </a:spcAft>
              <a:defRPr sz="1050">
                <a:solidFill>
                  <a:srgbClr val="F8FAFC"/>
                </a:solidFill>
              </a:defRPr>
            </a:pPr>
            <a:r>
              <a:t>- Loss of Brand Sovereignty: End-clients demand white-label solutions where the partner owns the customer relationship.</a:t>
            </a:r>
          </a:p>
          <a:p>
            <a:pPr>
              <a:spcAft>
                <a:spcPts val="400"/>
              </a:spcAft>
              <a:defRPr sz="1050">
                <a:solidFill>
                  <a:srgbClr val="F8FAFC"/>
                </a:solidFill>
              </a:defRPr>
            </a:pPr>
            <a:r>
              <a:t>- High Latency &amp; Jitter: Standard wrappers suffer from &gt;1000ms latency and audio drops on international SIP routes.</a:t>
            </a:r>
          </a:p>
          <a:p>
            <a:pPr>
              <a:spcAft>
                <a:spcPts val="400"/>
              </a:spcAft>
              <a:defRPr sz="1050">
                <a:solidFill>
                  <a:srgbClr val="F8FAFC"/>
                </a:solidFill>
              </a:defRPr>
            </a:pPr>
            <a:r>
              <a:t>- Destructive Pricing: High per-minute fees destroy partner gross margins on large-scale collections and sales drives.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371600"/>
            <a:ext cx="5212080" cy="4937760"/>
          </a:xfrm>
          <a:prstGeom prst="roundRect">
            <a:avLst/>
          </a:prstGeom>
          <a:solidFill>
            <a:srgbClr val="1A2438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554480"/>
            <a:ext cx="4846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34D399"/>
                </a:solidFill>
              </a:defRPr>
            </a:pPr>
            <a:r>
              <a:t>The Vocallabs Paradigm: White-Label Infrastructure</a:t>
            </a:r>
          </a:p>
          <a:p>
            <a:pPr>
              <a:spcAft>
                <a:spcPts val="400"/>
              </a:spcAft>
              <a:defRPr sz="1050">
                <a:solidFill>
                  <a:srgbClr val="F8FAFC"/>
                </a:solidFill>
              </a:defRPr>
            </a:pPr>
            <a:r>
              <a:t>- 100% White-Label Sovereignty: Partners rebrand VocalStack as their own proprietary Voice AI platform.</a:t>
            </a:r>
          </a:p>
          <a:p>
            <a:pPr>
              <a:spcAft>
                <a:spcPts val="400"/>
              </a:spcAft>
              <a:defRPr sz="1050">
                <a:solidFill>
                  <a:srgbClr val="F8FAFC"/>
                </a:solidFill>
              </a:defRPr>
            </a:pPr>
            <a:r>
              <a:t>- Sub-400ms Audio Pipeline: Integrated STT + Vocalassist AI reasoning + ultra-fast TTS streaming.</a:t>
            </a:r>
          </a:p>
          <a:p>
            <a:pPr>
              <a:spcAft>
                <a:spcPts val="400"/>
              </a:spcAft>
              <a:defRPr sz="1050">
                <a:solidFill>
                  <a:srgbClr val="F8FAFC"/>
                </a:solidFill>
              </a:defRPr>
            </a:pPr>
            <a:r>
              <a:t>- Partner Margin Arbitrage: Partners buy infrastructure at wholesale rates (INR 1.20/min), retail at INR 3.00-INR 5.00/min, keeping 65% gross margins.</a:t>
            </a:r>
          </a:p>
          <a:p>
            <a:pPr>
              <a:spcAft>
                <a:spcPts val="400"/>
              </a:spcAft>
              <a:defRPr sz="1050">
                <a:solidFill>
                  <a:srgbClr val="F8FAFC"/>
                </a:solidFill>
              </a:defRPr>
            </a:pPr>
            <a:r>
              <a:t>- Open Source Developer Moat: VocalFlow (OS visual flow builder) &amp; PocoDisk (audio cache) drive viral developer adoption.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818CF8"/>
                </a:solidFill>
              </a:defRPr>
            </a:pPr>
            <a:r>
              <a:t>INVESTMENT DECK | PRODUCT SUITE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Product Architecture: The Integrated Vocallabs Engine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3383280" cy="4937760"/>
          </a:xfrm>
          <a:prstGeom prst="roundRect">
            <a:avLst/>
          </a:prstGeom>
          <a:solidFill>
            <a:srgbClr val="1A2438"/>
          </a:solidFill>
          <a:ln w="19050"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554480"/>
            <a:ext cx="3017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818CF8"/>
                </a:solidFill>
              </a:defRPr>
            </a:pPr>
            <a:r>
              <a:t>Core Voice Stack</a:t>
            </a:r>
          </a:p>
          <a:p>
            <a:pPr>
              <a:spcAft>
                <a:spcPts val="400"/>
              </a:spcAft>
              <a:defRPr sz="1050">
                <a:solidFill>
                  <a:srgbClr val="F8FAFC"/>
                </a:solidFill>
              </a:defRPr>
            </a:pPr>
            <a:r>
              <a:t>- VocalStack Voice: Sub-400ms ultra-low latency speech-to-speech runtime engine.</a:t>
            </a:r>
          </a:p>
          <a:p>
            <a:pPr>
              <a:spcAft>
                <a:spcPts val="400"/>
              </a:spcAft>
              <a:defRPr sz="1050">
                <a:solidFill>
                  <a:srgbClr val="F8FAFC"/>
                </a:solidFill>
              </a:defRPr>
            </a:pPr>
            <a:r>
              <a:t>- Vocalassist AI: Context-aware reasoning, interruption handling &amp; tool calling.</a:t>
            </a:r>
          </a:p>
          <a:p>
            <a:pPr>
              <a:spcAft>
                <a:spcPts val="400"/>
              </a:spcAft>
              <a:defRPr sz="1050">
                <a:solidFill>
                  <a:srgbClr val="F8FAFC"/>
                </a:solidFill>
              </a:defRPr>
            </a:pPr>
            <a:r>
              <a:t>- Vocallabs Identity: Enterprise voice auth, biometric security &amp; compliance.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371600"/>
            <a:ext cx="3383280" cy="4937760"/>
          </a:xfrm>
          <a:prstGeom prst="roundRect">
            <a:avLst/>
          </a:prstGeom>
          <a:solidFill>
            <a:srgbClr val="1A2438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0" y="1554480"/>
            <a:ext cx="3017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34D399"/>
                </a:solidFill>
              </a:defRPr>
            </a:pPr>
            <a:r>
              <a:t>Developer &amp; Open Source</a:t>
            </a:r>
          </a:p>
          <a:p>
            <a:pPr>
              <a:spcAft>
                <a:spcPts val="400"/>
              </a:spcAft>
              <a:defRPr sz="1050">
                <a:solidFill>
                  <a:srgbClr val="F8FAFC"/>
                </a:solidFill>
              </a:defRPr>
            </a:pPr>
            <a:r>
              <a:t>- MCP Server: Native Model Context Protocol for Claude &amp; Cursor integrations.</a:t>
            </a:r>
          </a:p>
          <a:p>
            <a:pPr>
              <a:spcAft>
                <a:spcPts val="400"/>
              </a:spcAft>
              <a:defRPr sz="1050">
                <a:solidFill>
                  <a:srgbClr val="F8FAFC"/>
                </a:solidFill>
              </a:defRPr>
            </a:pPr>
            <a:r>
              <a:t>- VocalFlow (OS): Visual flow builder for complex conversation workflows.</a:t>
            </a:r>
          </a:p>
          <a:p>
            <a:pPr>
              <a:spcAft>
                <a:spcPts val="400"/>
              </a:spcAft>
              <a:defRPr sz="1050">
                <a:solidFill>
                  <a:srgbClr val="F8FAFC"/>
                </a:solidFill>
              </a:defRPr>
            </a:pPr>
            <a:r>
              <a:t>- PocoDisk (OS): High-throughput low-latency audio caching layer.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371600"/>
            <a:ext cx="3383280" cy="4937760"/>
          </a:xfrm>
          <a:prstGeom prst="roundRect">
            <a:avLst/>
          </a:prstGeom>
          <a:solidFill>
            <a:srgbClr val="1A2438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0" y="1554480"/>
            <a:ext cx="3017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FBBF24"/>
                </a:solidFill>
              </a:defRPr>
            </a:pPr>
            <a:r>
              <a:t>Telephony &amp; Dogfooding</a:t>
            </a:r>
          </a:p>
          <a:p>
            <a:pPr>
              <a:spcAft>
                <a:spcPts val="400"/>
              </a:spcAft>
              <a:defRPr sz="1050">
                <a:solidFill>
                  <a:srgbClr val="F8FAFC"/>
                </a:solidFill>
              </a:defRPr>
            </a:pPr>
            <a:r>
              <a:t>- Vocal Dialer: Multi-line high-concurrency predictive outbound dialer.</a:t>
            </a:r>
          </a:p>
          <a:p>
            <a:pPr>
              <a:spcAft>
                <a:spcPts val="400"/>
              </a:spcAft>
              <a:defRPr sz="1050">
                <a:solidFill>
                  <a:srgbClr val="F8FAFC"/>
                </a:solidFill>
              </a:defRPr>
            </a:pPr>
            <a:r>
              <a:t>- Hiringg (app.hiringg.ai): Live dogfooded AI candidate interviewing platform.</a:t>
            </a:r>
          </a:p>
          <a:p>
            <a:pPr>
              <a:spcAft>
                <a:spcPts val="400"/>
              </a:spcAft>
              <a:defRPr sz="1050">
                <a:solidFill>
                  <a:srgbClr val="F8FAFC"/>
                </a:solidFill>
              </a:defRPr>
            </a:pPr>
            <a:r>
              <a:t>- Enterprise Admin Portal: Multi-tenant white-label partner dashboard.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818CF8"/>
                </a:solidFill>
              </a:defRPr>
            </a:pPr>
            <a:r>
              <a:t>INVESTMENT DECK | GO-TO-MARKET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Go-To-Market Engine: The Partner Reseller Flywheel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212080" cy="4937760"/>
          </a:xfrm>
          <a:prstGeom prst="roundRect">
            <a:avLst/>
          </a:prstGeom>
          <a:solidFill>
            <a:srgbClr val="1A2438"/>
          </a:solidFill>
          <a:ln w="19050"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554480"/>
            <a:ext cx="4846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818CF8"/>
                </a:solidFill>
              </a:defRPr>
            </a:pPr>
            <a:r>
              <a:t>Target Partner Segments</a:t>
            </a:r>
          </a:p>
          <a:p>
            <a:pPr>
              <a:spcAft>
                <a:spcPts val="400"/>
              </a:spcAft>
              <a:defRPr sz="1050">
                <a:solidFill>
                  <a:srgbClr val="F8FAFC"/>
                </a:solidFill>
              </a:defRPr>
            </a:pPr>
            <a:r>
              <a:t>- Digital Marketing Agencies: Adding Voice AI sales agents to lead gen packages ($2k-$5k/mo retainer).</a:t>
            </a:r>
          </a:p>
          <a:p>
            <a:pPr>
              <a:spcAft>
                <a:spcPts val="400"/>
              </a:spcAft>
              <a:defRPr sz="1050">
                <a:solidFill>
                  <a:srgbClr val="F8FAFC"/>
                </a:solidFill>
              </a:defRPr>
            </a:pPr>
            <a:r>
              <a:t>- Tier-2 BPOs &amp; Contact Centers: Transitioning legacy call center seats to autonomous voice agents with zero CapEx.</a:t>
            </a:r>
          </a:p>
          <a:p>
            <a:pPr>
              <a:spcAft>
                <a:spcPts val="400"/>
              </a:spcAft>
              <a:defRPr sz="1050">
                <a:solidFill>
                  <a:srgbClr val="F8FAFC"/>
                </a:solidFill>
              </a:defRPr>
            </a:pPr>
            <a:r>
              <a:t>- Vertical SaaS Platforms: Embedding native Voice AI capabilities into CRM, Healthcare, and Real Estate software.</a:t>
            </a:r>
          </a:p>
          <a:p>
            <a:pPr>
              <a:spcAft>
                <a:spcPts val="400"/>
              </a:spcAft>
              <a:defRPr sz="1050">
                <a:solidFill>
                  <a:srgbClr val="F8FAFC"/>
                </a:solidFill>
              </a:defRPr>
            </a:pPr>
            <a:r>
              <a:t>- Collections &amp; Debt Recovery: Deploying high-throughput automated payment reminder agents.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371600"/>
            <a:ext cx="5212080" cy="4937760"/>
          </a:xfrm>
          <a:prstGeom prst="roundRect">
            <a:avLst/>
          </a:prstGeom>
          <a:solidFill>
            <a:srgbClr val="1A2438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554480"/>
            <a:ext cx="4846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34D399"/>
                </a:solidFill>
              </a:defRPr>
            </a:pPr>
            <a:r>
              <a:t>The B2B Growth Flywheel</a:t>
            </a:r>
          </a:p>
          <a:p>
            <a:pPr>
              <a:spcAft>
                <a:spcPts val="400"/>
              </a:spcAft>
              <a:defRPr sz="1050">
                <a:solidFill>
                  <a:srgbClr val="F8FAFC"/>
                </a:solidFill>
              </a:defRPr>
            </a:pPr>
            <a:r>
              <a:t>- Developer Virality: Open-source VocalFlow OS drives grassroots engineer discovery.</a:t>
            </a:r>
          </a:p>
          <a:p>
            <a:pPr>
              <a:spcAft>
                <a:spcPts val="400"/>
              </a:spcAft>
              <a:defRPr sz="1050">
                <a:solidFill>
                  <a:srgbClr val="F8FAFC"/>
                </a:solidFill>
              </a:defRPr>
            </a:pPr>
            <a:r>
              <a:t>- Partner Onboarding: White-label sandbox credits (funded by INR 1 Cr budget) eliminate onboarding friction.</a:t>
            </a:r>
          </a:p>
          <a:p>
            <a:pPr>
              <a:spcAft>
                <a:spcPts val="400"/>
              </a:spcAft>
              <a:defRPr sz="1050">
                <a:solidFill>
                  <a:srgbClr val="F8FAFC"/>
                </a:solidFill>
              </a:defRPr>
            </a:pPr>
            <a:r>
              <a:t>- Volume Monetization: As partners scale end-clients, Vocallabs infra minute consumption explodes.</a:t>
            </a:r>
          </a:p>
          <a:p>
            <a:pPr>
              <a:spcAft>
                <a:spcPts val="400"/>
              </a:spcAft>
              <a:defRPr sz="1050">
                <a:solidFill>
                  <a:srgbClr val="F8FAFC"/>
                </a:solidFill>
              </a:defRPr>
            </a:pPr>
            <a:r>
              <a:t>- Defensible Lock-In: Deep API integrations &amp; white-label admin dashboards ensure near-zero partner churn.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818CF8"/>
                </a:solidFill>
              </a:defRPr>
            </a:pPr>
            <a:r>
              <a:t>INVESTMENT DECK | UNIT ECONOMICS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Financial Model &amp; Unit Economics (Scaling to INR 5.2 Cr ARR)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212080" cy="4937760"/>
          </a:xfrm>
          <a:prstGeom prst="roundRect">
            <a:avLst/>
          </a:prstGeom>
          <a:solidFill>
            <a:srgbClr val="1A2438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554480"/>
            <a:ext cx="4846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34D399"/>
                </a:solidFill>
              </a:defRPr>
            </a:pPr>
            <a:r>
              <a:t>Partner Economics &amp; Gross Margin Structure</a:t>
            </a:r>
          </a:p>
          <a:p>
            <a:pPr>
              <a:spcAft>
                <a:spcPts val="400"/>
              </a:spcAft>
              <a:defRPr sz="1050">
                <a:solidFill>
                  <a:srgbClr val="F8FAFC"/>
                </a:solidFill>
              </a:defRPr>
            </a:pPr>
            <a:r>
              <a:t>- Partner Wholesale Rate: INR 1.20 / minute (Vocallabs infra cost: ~INR 0.45 / min).</a:t>
            </a:r>
          </a:p>
          <a:p>
            <a:pPr>
              <a:spcAft>
                <a:spcPts val="400"/>
              </a:spcAft>
              <a:defRPr sz="1050">
                <a:solidFill>
                  <a:srgbClr val="F8FAFC"/>
                </a:solidFill>
              </a:defRPr>
            </a:pPr>
            <a:r>
              <a:t>- Partner Resale Rate: INR 3.00 - INR 5.00 / minute (Partner retains ~65% gross margin).</a:t>
            </a:r>
          </a:p>
          <a:p>
            <a:pPr>
              <a:spcAft>
                <a:spcPts val="400"/>
              </a:spcAft>
              <a:defRPr sz="1050">
                <a:solidFill>
                  <a:srgbClr val="F8FAFC"/>
                </a:solidFill>
              </a:defRPr>
            </a:pPr>
            <a:r>
              <a:t>- Vocallabs Infrastructure Gross Margin: 62.5% gross margin on runtime traffic.</a:t>
            </a:r>
          </a:p>
          <a:p>
            <a:pPr>
              <a:spcAft>
                <a:spcPts val="400"/>
              </a:spcAft>
              <a:defRPr sz="1050">
                <a:solidFill>
                  <a:srgbClr val="F8FAFC"/>
                </a:solidFill>
              </a:defRPr>
            </a:pPr>
            <a:r>
              <a:t>- Average Partner Volume: 100,000 mins/mo = INR 1,20,000/mo net infra revenue per active partner.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371600"/>
            <a:ext cx="5212080" cy="4937760"/>
          </a:xfrm>
          <a:prstGeom prst="roundRect">
            <a:avLst/>
          </a:prstGeom>
          <a:solidFill>
            <a:srgbClr val="1A2438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554480"/>
            <a:ext cx="4846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FBBF24"/>
                </a:solidFill>
              </a:defRPr>
            </a:pPr>
            <a:r>
              <a:t>12-Month ARR Target &amp; Capital Deployment</a:t>
            </a:r>
          </a:p>
          <a:p>
            <a:pPr>
              <a:spcAft>
                <a:spcPts val="400"/>
              </a:spcAft>
              <a:defRPr sz="1050">
                <a:solidFill>
                  <a:srgbClr val="F8FAFC"/>
                </a:solidFill>
              </a:defRPr>
            </a:pPr>
            <a:r>
              <a:t>- Month 3 Target: 25 Active Partners | 10M Mins/mo | INR 1.2 Cr ARR.</a:t>
            </a:r>
          </a:p>
          <a:p>
            <a:pPr>
              <a:spcAft>
                <a:spcPts val="400"/>
              </a:spcAft>
              <a:defRPr sz="1050">
                <a:solidFill>
                  <a:srgbClr val="F8FAFC"/>
                </a:solidFill>
              </a:defRPr>
            </a:pPr>
            <a:r>
              <a:t>- Month 6 Target: 50 Active Partners | 25M Mins/mo | INR 2.8 Cr ARR.</a:t>
            </a:r>
          </a:p>
          <a:p>
            <a:pPr>
              <a:spcAft>
                <a:spcPts val="400"/>
              </a:spcAft>
              <a:defRPr sz="1050">
                <a:solidFill>
                  <a:srgbClr val="F8FAFC"/>
                </a:solidFill>
              </a:defRPr>
            </a:pPr>
            <a:r>
              <a:t>- Month 12 Target: 100 Active Partners | 50M Mins/mo | INR 5.2 Cr ARR.</a:t>
            </a:r>
          </a:p>
          <a:p>
            <a:pPr>
              <a:spcAft>
                <a:spcPts val="400"/>
              </a:spcAft>
              <a:defRPr sz="1050">
                <a:solidFill>
                  <a:srgbClr val="F8FAFC"/>
                </a:solidFill>
              </a:defRPr>
            </a:pPr>
            <a:r>
              <a:t>- Capital Efficiency: Reaching profitability by Month 8 using INR 1 Cr strategic growth budget.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